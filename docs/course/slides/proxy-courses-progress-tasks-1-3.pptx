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Proxy Courses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A peer-tutoring and advising platform for IUB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Progress review · Tasks 1–3: Software Process, Requirements,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Syed Mehedi Hussain · 2310690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Arafat Hossain · 2420834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Rukaiya Tabassum · 2420183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Meharab Hossen Opi · 2420832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40233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CSE451 / CSC445 Software Engineering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Autumn 2026 · Independent University, Bangladesh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Faculty: Md Masum Billah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The problem and 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5778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2933"/>
                </a:solidFill>
                <a:latin typeface="Arial"/>
              </a:rPr>
              <a:t>•  Problem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Learners struggle in specific IUB courses; coaching is costly and off-syllabus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Seniors who aced the course are found only by luck (Facebook groups)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No trust: no grade check, no reviews, no refunds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Faculty and club advice is scattered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3949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2933"/>
                </a:solidFill>
                <a:latin typeface="Arial"/>
              </a:rPr>
              <a:t>•  Proxy Courses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Tutors with an admin-verified A / A- in the course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৳500 semester subscription; 70/30 split (80/20 for top tutors)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Free intro video + free live demo before paying; clear refund rule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Free booking with faculty advisors and club executives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2606D"/>
                </a:solidFill>
                <a:latin typeface="Arial"/>
              </a:rPr>
              <a:t>–  Responsive web app first; one API ready for mobile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Where we are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7498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329184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  Software Process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Done: 3 / 3 items, 1 diagram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2  Requirements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Done: 16 / 16 items, 6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3  Software Design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Done: 9 / 9 items, 6 diagrams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4  Product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5  Quality Attributes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6 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Planned (test plan drafted)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7  Project Management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8  Risk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Planned (6 risks drafted)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325880"/>
            <a:ext cx="34747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Also written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PRD: 36 FRs, 12 NFRs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Architecture, data model, API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Roadmap M1–M4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Stack ADR: Next.js + PostgreSQL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Payments ADR: mock gateway → SSLCommerz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48 of 120 marks' worth of work drafted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SOFTWARE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1 · Choosing the process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76809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914400"/>
                <a:gridCol w="1097280"/>
                <a:gridCol w="1005840"/>
                <a:gridCol w="109728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Waterfall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Spiral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Scrum + XP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C1 Copes with changing requirements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C2 Early working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C3 Fits 14 weeks, task every 2 weeks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C4 Produces graded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C5 Risk control, small team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Weighted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3.55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3"/>
                          </a:solidFill>
                          <a:latin typeface="Arial"/>
                        </a:rPr>
                        <a:t>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325880"/>
            <a:ext cx="3383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Chosen: Scrum + XP + MoSCoW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Pricing and refund rules will change after interviews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7 two-week sprints = 7 task deadlines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XP: pair work, PR review, CI on every push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Weak spot (docs) fixed: each sprint's Definition of Done includes its task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SOFTWARE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1 · Tailored life cycle</a:t>
            </a:r>
          </a:p>
        </p:txBody>
      </p:sp>
      <p:pic>
        <p:nvPicPr>
          <p:cNvPr id="5" name="Picture 4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51" y="1325880"/>
            <a:ext cx="10895792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12 stakeholders on a power–interest grid</a:t>
            </a:r>
          </a:p>
        </p:txBody>
      </p:sp>
      <p:pic>
        <p:nvPicPr>
          <p:cNvPr id="5" name="Picture 4" descr="power-interest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9571"/>
            <a:ext cx="6583680" cy="50275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25880"/>
            <a:ext cx="4480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Manage closely</a:t>
            </a:r>
            <a:r>
              <a:rPr sz="1700">
                <a:solidFill>
                  <a:srgbClr val="1F2933"/>
                </a:solidFill>
                <a:latin typeface="Arial"/>
              </a:rPr>
              <a:t>: learners, tutors, course faculty, team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Keep satisfied</a:t>
            </a:r>
            <a:r>
              <a:rPr sz="1700">
                <a:solidFill>
                  <a:srgbClr val="1F2933"/>
                </a:solidFill>
                <a:latin typeface="Arial"/>
              </a:rPr>
              <a:t>: IUB administration, payment gateway, faculty of tutored courses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Keep informed</a:t>
            </a:r>
            <a:r>
              <a:rPr sz="1700">
                <a:solidFill>
                  <a:srgbClr val="1F2933"/>
                </a:solidFill>
                <a:latin typeface="Arial"/>
              </a:rPr>
              <a:t>: advisors, club executives, parents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Monitor</a:t>
            </a:r>
            <a:r>
              <a:rPr sz="1700">
                <a:solidFill>
                  <a:srgbClr val="1F2933"/>
                </a:solidFill>
                <a:latin typeface="Arial"/>
              </a:rPr>
              <a:t>: coaching centres, IUB IT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Elicitation</a:t>
            </a:r>
            <a:r>
              <a:rPr sz="1700">
                <a:solidFill>
                  <a:srgbClr val="1F2933"/>
                </a:solidFill>
                <a:latin typeface="Arial"/>
              </a:rPr>
              <a:t>: 9 interviews · survey (≥ 50) · analysis of 30 Facebook posts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Requirements catalogue and user stories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Catalogue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Functional requirements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   Must / Should / Could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28 / 7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   Won't (v1)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6 items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Non-functional, each with a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User stories (INVEST-checked)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Use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325880"/>
            <a:ext cx="55778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Example NFR metrics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Search p95 ≤ 500 ms with 1,000 offerings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≥ 99.0% monthly uptime (≤ 7.3 h down)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0 transcripts reachable by other users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WCAG 2.1 AA: 0 serious axe-core issues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Arial"/>
              </a:rPr>
              <a:t>•  INVEST caught 2 problems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US-3 too big → split into mock-pay and real gateway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2606D"/>
                </a:solidFill>
                <a:latin typeface="Arial"/>
              </a:rPr>
              <a:t>–  US-5 depended on US-4 → seeded test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Use-case diagram (15 use cases, 6 actors)</a:t>
            </a:r>
          </a:p>
        </p:txBody>
      </p:sp>
      <p:pic>
        <p:nvPicPr>
          <p:cNvPr id="5" name="Picture 4" descr="use-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75" y="1325880"/>
            <a:ext cx="723552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325880"/>
            <a:ext cx="32918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«include»</a:t>
            </a:r>
            <a:r>
              <a:rPr sz="1500">
                <a:solidFill>
                  <a:srgbClr val="1F2933"/>
                </a:solidFill>
                <a:latin typeface="Arial"/>
              </a:rPr>
              <a:t>: Subscribe always includes Pay via gateway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«extend»</a:t>
            </a:r>
            <a:r>
              <a:rPr sz="1500">
                <a:solidFill>
                  <a:srgbClr val="1F2933"/>
                </a:solidFill>
                <a:latin typeface="Arial"/>
              </a:rPr>
              <a:t>: Book free demo extends View offering [seats free]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Generalisation</a:t>
            </a:r>
            <a:r>
              <a:rPr sz="1500">
                <a:solidFill>
                  <a:srgbClr val="1F2933"/>
                </a:solidFill>
                <a:latin typeface="Arial"/>
              </a:rPr>
              <a:t>: a tutor is also a learner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Fully dressed</a:t>
            </a:r>
            <a:r>
              <a:rPr sz="1500">
                <a:solidFill>
                  <a:srgbClr val="1F2933"/>
                </a:solidFill>
                <a:latin typeface="Arial"/>
              </a:rPr>
              <a:t>: UC-05 Subscribe, with 6 extensions (failed payment, forged callback, duplicate callback…)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ER diagram (crow's foot)</a:t>
            </a:r>
          </a:p>
        </p:txBody>
      </p:sp>
      <p:pic>
        <p:nvPicPr>
          <p:cNvPr id="5" name="Picture 4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25" y="1325880"/>
            <a:ext cx="786418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1325880"/>
            <a:ext cx="2926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13 entities</a:t>
            </a:r>
            <a:r>
              <a:rPr sz="1500">
                <a:solidFill>
                  <a:srgbClr val="1F2933"/>
                </a:solidFill>
                <a:latin typeface="Arial"/>
              </a:rPr>
              <a:t>, PKs underlined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Weak entity</a:t>
            </a:r>
            <a:r>
              <a:rPr sz="1500">
                <a:solidFill>
                  <a:srgbClr val="1F2933"/>
                </a:solidFill>
                <a:latin typeface="Arial"/>
              </a:rPr>
              <a:t>: MATERIAL (owner OFFERING + material_no)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Associative</a:t>
            </a:r>
            <a:r>
              <a:rPr sz="1500">
                <a:solidFill>
                  <a:srgbClr val="1F2933"/>
                </a:solidFill>
                <a:latin typeface="Arial"/>
              </a:rPr>
              <a:t>: DEMO_BOOKING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Rules in the model</a:t>
            </a:r>
            <a:r>
              <a:rPr sz="1500">
                <a:solidFill>
                  <a:srgbClr val="1F2933"/>
                </a:solidFill>
                <a:latin typeface="Arial"/>
              </a:rPr>
              <a:t>: REVIEW and REFUND hang off SUBSCRIPTION (0..1), so only subscribers can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Subscription state diagram</a:t>
            </a:r>
          </a:p>
        </p:txBody>
      </p:sp>
      <p:pic>
        <p:nvPicPr>
          <p:cNvPr id="5" name="Picture 4" descr="stat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74" y="1325880"/>
            <a:ext cx="5402891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325880"/>
            <a:ext cx="4572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933"/>
                </a:solidFill>
                <a:latin typeface="Arial"/>
              </a:rPr>
              <a:t>•  6 states</a:t>
            </a:r>
            <a:r>
              <a:rPr sz="1600">
                <a:solidFill>
                  <a:srgbClr val="1F2933"/>
                </a:solidFill>
                <a:latin typeface="Arial"/>
              </a:rPr>
              <a:t>: PendingPayment, Active, Cancelled, RefundRequested, Refunded, Expired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Every transition = event [guard] / action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paymentSucceeded [signature valid ∧ amount = ৳500 ∧ txn new] / mark PAID, store split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requestRefund [inside window] / add to admin queue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Guards prevent double charging and access without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Level-1 DFD: “Subscribe to an offering”</a:t>
            </a:r>
          </a:p>
        </p:txBody>
      </p:sp>
      <p:pic>
        <p:nvPicPr>
          <p:cNvPr id="5" name="Picture 4" descr="dfd-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9764"/>
            <a:ext cx="11185855" cy="3695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2356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Arial"/>
              </a:rPr>
              <a:t>5 processes (find → order → pay → activate &amp; split → notify) · 4 external entities · 5 data stores · flows balance with the context-level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Negotiation, review and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Win-win 1: refunds vs tutor income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Full refund within 14 days and before the 3rd live class; later only by dispute (to confirm with interviews)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Win-win 2: trust vs transcript privacy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Public sees “✓ Verified A in CSE211”; only admins see the transcript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8-question review on FR-16, FR-25, NFR-01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Found 3 ambiguities, 2 gaps, 1 conflict, all fixed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2588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88720"/>
                <a:gridCol w="2011680"/>
                <a:gridCol w="109728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Req.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FR-16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UC-02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M4 Discovery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TC-06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FR-19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UC-04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M5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FR-22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UC-06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M7 Payments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TC-09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FR-25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UC-08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M6 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TC-12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NFR-05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UC-10/12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M2, M12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TC-18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… 21 rows in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2 · Change control and the requirements baseline</a:t>
            </a:r>
          </a:p>
        </p:txBody>
      </p:sp>
      <p:pic>
        <p:nvPicPr>
          <p:cNvPr id="5" name="Picture 4" descr="change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66" y="1325880"/>
            <a:ext cx="4932427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32588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933"/>
                </a:solidFill>
                <a:latin typeface="Arial"/>
              </a:rPr>
              <a:t>•  Baseline v1.0</a:t>
            </a:r>
            <a:r>
              <a:rPr sz="1600">
                <a:solidFill>
                  <a:srgbClr val="1F2933"/>
                </a:solidFill>
                <a:latin typeface="Arial"/>
              </a:rPr>
              <a:t>: PRD + Task 2 models, approved at the Sprint 2 review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Frozen as git tag req-baseline-v1.0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933"/>
                </a:solidFill>
                <a:latin typeface="Arial"/>
              </a:rPr>
              <a:t>•  After baselining</a:t>
            </a:r>
            <a:r>
              <a:rPr sz="1600">
                <a:solidFill>
                  <a:srgbClr val="1F2933"/>
                </a:solidFill>
                <a:latin typeface="Arial"/>
              </a:rPr>
              <a:t>: change only through a CR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Impact analysis uses the traceability matrix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CCB: product owner + scrum master + QA lead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2606D"/>
                </a:solidFill>
                <a:latin typeface="Arial"/>
              </a:rPr>
              <a:t>–  Approved → v1.1 with a new tag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Arial"/>
              </a:rPr>
              <a:t>•  Scope or graded-deliverable changes are checked with the faculty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3 · 12 modules in three layers</a:t>
            </a:r>
          </a:p>
        </p:txBody>
      </p:sp>
      <p:pic>
        <p:nvPicPr>
          <p:cNvPr id="5" name="Picture 4" descr="modul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2" y="1325880"/>
            <a:ext cx="593451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325880"/>
            <a:ext cx="46634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Each module</a:t>
            </a:r>
            <a:r>
              <a:rPr sz="1700">
                <a:solidFill>
                  <a:srgbClr val="1F2933"/>
                </a:solidFill>
                <a:latin typeface="Arial"/>
              </a:rPr>
              <a:t>: responsibility, interface, hidden information, dependencies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No cycles</a:t>
            </a:r>
            <a:r>
              <a:rPr sz="1700">
                <a:solidFill>
                  <a:srgbClr val="1F2933"/>
                </a:solidFill>
                <a:latin typeface="Arial"/>
              </a:rPr>
              <a:t>: M6 Subscriptions → M7 Payments, never back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Hidden</a:t>
            </a:r>
            <a:r>
              <a:rPr sz="1700">
                <a:solidFill>
                  <a:srgbClr val="1F2933"/>
                </a:solidFill>
                <a:latin typeface="Arial"/>
              </a:rPr>
              <a:t>: only M7 knows which gateway is used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2933"/>
                </a:solidFill>
                <a:latin typeface="Arial"/>
              </a:rPr>
              <a:t>•  Cross-cutting</a:t>
            </a:r>
            <a:r>
              <a:rPr sz="1700">
                <a:solidFill>
                  <a:srgbClr val="1F2933"/>
                </a:solidFill>
                <a:latin typeface="Arial"/>
              </a:rPr>
              <a:t>: roles, audit log, validation, error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3 · Fixing a god class</a:t>
            </a:r>
          </a:p>
        </p:txBody>
      </p:sp>
      <p:pic>
        <p:nvPicPr>
          <p:cNvPr id="5" name="Picture 4" descr="refactor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0117"/>
            <a:ext cx="5577840" cy="2654725"/>
          </a:xfrm>
          <a:prstGeom prst="rect">
            <a:avLst/>
          </a:prstGeom>
        </p:spPr>
      </p:pic>
      <p:pic>
        <p:nvPicPr>
          <p:cNvPr id="6" name="Picture 5" descr="refactor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94882"/>
            <a:ext cx="5577840" cy="24051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97680"/>
            <a:ext cx="1118585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933"/>
                </a:solidFill>
                <a:latin typeface="Arial"/>
              </a:rPr>
              <a:t>•  Before</a:t>
            </a:r>
            <a:r>
              <a:rPr sz="1600">
                <a:solidFill>
                  <a:srgbClr val="1F2933"/>
                </a:solidFill>
                <a:latin typeface="Arial"/>
              </a:rPr>
              <a:t>: SubscriptionManager had coincidental and logical cohesion, and content, common, control and external coupling (15 methods, 9 collaborators)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933"/>
                </a:solidFill>
                <a:latin typeface="Arial"/>
              </a:rPr>
              <a:t>•  After</a:t>
            </a:r>
            <a:r>
              <a:rPr sz="1600">
                <a:solidFill>
                  <a:srgbClr val="1F2933"/>
                </a:solidFill>
                <a:latin typeface="Arial"/>
              </a:rPr>
              <a:t>: functional cohesion, data coupling and a PaymentGateway interface (mock or SSLCommerz). The control flag is replaced by polymorphism.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3 · Mandel's golden rules, personas, task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57607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84048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Golden rule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In Proxy Courses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User in control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✕ on every checkout step; cancel demo; withdraw refund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Reduce memory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Step 2 of 3; refund as a date; last method pre-selected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Consistent interface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One blue bottom button; same status colours; same words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325880"/>
          <a:ext cx="53035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Persona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Goal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Nusrat · learner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Pass CSE211, spend ≤ ৳1,000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Tanvir · tutor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Earn about ৳10k a semester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Dr. Farhana Rahman · advisor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Stop the email ping-pong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606D"/>
                </a:solidFill>
                <a:latin typeface="Arial"/>
              </a:rPr>
              <a:t>Task analysis (HTA) of “Subscribe to help for CSE211”: 4 sub-goals, 11 leaf steps (12 with demo)</a:t>
            </a:r>
          </a:p>
          <a:p>
            <a:pPr algn="l"/>
            <a:r>
              <a:rPr sz="1600" b="0">
                <a:solidFill>
                  <a:srgbClr val="52606D"/>
                </a:solidFill>
                <a:latin typeface="Arial"/>
              </a:rPr>
              <a:t>→ comparison data on result cards · one-screen checkout · demo email links straight to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3 · Annotated wireframes: offering page and checkout</a:t>
            </a:r>
          </a:p>
        </p:txBody>
      </p:sp>
      <p:pic>
        <p:nvPicPr>
          <p:cNvPr id="5" name="Picture 4" descr="wireframe-off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5294"/>
            <a:ext cx="5455767" cy="5036092"/>
          </a:xfrm>
          <a:prstGeom prst="rect">
            <a:avLst/>
          </a:prstGeom>
        </p:spPr>
      </p:pic>
      <p:pic>
        <p:nvPicPr>
          <p:cNvPr id="6" name="Picture 5" descr="wireframe-che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345294"/>
            <a:ext cx="5455767" cy="5036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Task 3 · Corrected login screen and Fitts's Law</a:t>
            </a:r>
          </a:p>
        </p:txBody>
      </p:sp>
      <p:pic>
        <p:nvPicPr>
          <p:cNvPr id="5" name="Picture 4" descr="login-befor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11" y="1325880"/>
            <a:ext cx="4878217" cy="50749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258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MT = a + b·log₂(D/W + 1)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A: small, top right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B: sticky bottom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90 × 36 px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358 × 52 px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D (from (195, 500))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450.7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304.0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ID = log₂(D/W+1)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3.76 bits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2.78 bits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MT (a = 0.10, b = 0.15)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0.66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0.52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4023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B is 22% faster</a:t>
            </a:r>
            <a:r>
              <a:rPr sz="1500">
                <a:solidFill>
                  <a:srgbClr val="1F2933"/>
                </a:solidFill>
                <a:latin typeface="Arial"/>
              </a:rPr>
              <a:t>, in the thumb zone and above the 44–48 px minimum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•  Login fixes</a:t>
            </a:r>
            <a:r>
              <a:rPr sz="1500">
                <a:solidFill>
                  <a:srgbClr val="1F2933"/>
                </a:solidFill>
                <a:latin typeface="Arial"/>
              </a:rPr>
              <a:t>: real labels, an error under the field, one 342 × 52 button, no RESET, a sign-up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3"/>
                </a:solidFill>
                <a:latin typeface="Arial"/>
              </a:rPr>
              <a:t>Next steps and questions for sir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6692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Next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Task 4: function points (feeds COCOMO in Task 7), OO metrics, Halstead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Run the interviews and survey → confirm the refund rule and price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Agree team roles: PO, scrum master, QA lead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Build M1: sign-up → search → demo → mock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3949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•  Questions for Masum sir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Are the swimlane, sequence and class diagrams required?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Is a full SRS (ISO 29148) required, or is the PRD enough?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Do we use UniRide's figures (activity list, Halstead) or our own?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2606D"/>
                </a:solidFill>
                <a:latin typeface="Arial"/>
              </a:rPr>
              <a:t>–  Which week is each task due?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Arial"/>
              </a:rPr>
              <a:t>Proxy Courses · 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